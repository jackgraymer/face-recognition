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809704-D555-43E9-8763-C18ABFFD866A}" v="15" dt="2025-06-28T00:09:24.2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9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rvan Canton Alvaro W.MSCIDS_F24.2301" userId="09644743-1044-4338-95c6-f7c68461d1d3" providerId="ADAL" clId="{47809704-D555-43E9-8763-C18ABFFD866A}"/>
    <pc:docChg chg="undo redo custSel addSld modSld">
      <pc:chgData name="Cervan Canton Alvaro W.MSCIDS_F24.2301" userId="09644743-1044-4338-95c6-f7c68461d1d3" providerId="ADAL" clId="{47809704-D555-43E9-8763-C18ABFFD866A}" dt="2025-06-28T00:17:39.580" v="1260" actId="403"/>
      <pc:docMkLst>
        <pc:docMk/>
      </pc:docMkLst>
      <pc:sldChg chg="modSp new mod">
        <pc:chgData name="Cervan Canton Alvaro W.MSCIDS_F24.2301" userId="09644743-1044-4338-95c6-f7c68461d1d3" providerId="ADAL" clId="{47809704-D555-43E9-8763-C18ABFFD866A}" dt="2025-06-27T23:52:09.828" v="124"/>
        <pc:sldMkLst>
          <pc:docMk/>
          <pc:sldMk cId="472454260" sldId="258"/>
        </pc:sldMkLst>
        <pc:spChg chg="mod">
          <ac:chgData name="Cervan Canton Alvaro W.MSCIDS_F24.2301" userId="09644743-1044-4338-95c6-f7c68461d1d3" providerId="ADAL" clId="{47809704-D555-43E9-8763-C18ABFFD866A}" dt="2025-06-27T23:48:30.403" v="1"/>
          <ac:spMkLst>
            <pc:docMk/>
            <pc:sldMk cId="472454260" sldId="258"/>
            <ac:spMk id="2" creationId="{B2DC29F1-C255-9350-4B4B-4E3B2FD0F7CD}"/>
          </ac:spMkLst>
        </pc:spChg>
        <pc:spChg chg="mod">
          <ac:chgData name="Cervan Canton Alvaro W.MSCIDS_F24.2301" userId="09644743-1044-4338-95c6-f7c68461d1d3" providerId="ADAL" clId="{47809704-D555-43E9-8763-C18ABFFD866A}" dt="2025-06-27T23:52:09.828" v="124"/>
          <ac:spMkLst>
            <pc:docMk/>
            <pc:sldMk cId="472454260" sldId="258"/>
            <ac:spMk id="3" creationId="{629E353E-726F-2B63-E6D9-F0A5CADFF231}"/>
          </ac:spMkLst>
        </pc:spChg>
      </pc:sldChg>
      <pc:sldChg chg="modSp new mod">
        <pc:chgData name="Cervan Canton Alvaro W.MSCIDS_F24.2301" userId="09644743-1044-4338-95c6-f7c68461d1d3" providerId="ADAL" clId="{47809704-D555-43E9-8763-C18ABFFD866A}" dt="2025-06-27T23:57:18.190" v="331" actId="20577"/>
        <pc:sldMkLst>
          <pc:docMk/>
          <pc:sldMk cId="1119096577" sldId="259"/>
        </pc:sldMkLst>
        <pc:spChg chg="mod">
          <ac:chgData name="Cervan Canton Alvaro W.MSCIDS_F24.2301" userId="09644743-1044-4338-95c6-f7c68461d1d3" providerId="ADAL" clId="{47809704-D555-43E9-8763-C18ABFFD866A}" dt="2025-06-27T23:54:53.972" v="158" actId="20577"/>
          <ac:spMkLst>
            <pc:docMk/>
            <pc:sldMk cId="1119096577" sldId="259"/>
            <ac:spMk id="2" creationId="{3EEA2A6A-7218-6D05-9E39-DAF42C2CBF0E}"/>
          </ac:spMkLst>
        </pc:spChg>
        <pc:spChg chg="mod">
          <ac:chgData name="Cervan Canton Alvaro W.MSCIDS_F24.2301" userId="09644743-1044-4338-95c6-f7c68461d1d3" providerId="ADAL" clId="{47809704-D555-43E9-8763-C18ABFFD866A}" dt="2025-06-27T23:57:18.190" v="331" actId="20577"/>
          <ac:spMkLst>
            <pc:docMk/>
            <pc:sldMk cId="1119096577" sldId="259"/>
            <ac:spMk id="3" creationId="{8FAD9094-2680-17EB-C71A-AC4ABAEC2E6E}"/>
          </ac:spMkLst>
        </pc:spChg>
      </pc:sldChg>
      <pc:sldChg chg="addSp modSp new mod">
        <pc:chgData name="Cervan Canton Alvaro W.MSCIDS_F24.2301" userId="09644743-1044-4338-95c6-f7c68461d1d3" providerId="ADAL" clId="{47809704-D555-43E9-8763-C18ABFFD866A}" dt="2025-06-28T00:17:39.580" v="1260" actId="403"/>
        <pc:sldMkLst>
          <pc:docMk/>
          <pc:sldMk cId="1625124294" sldId="260"/>
        </pc:sldMkLst>
        <pc:spChg chg="mod">
          <ac:chgData name="Cervan Canton Alvaro W.MSCIDS_F24.2301" userId="09644743-1044-4338-95c6-f7c68461d1d3" providerId="ADAL" clId="{47809704-D555-43E9-8763-C18ABFFD866A}" dt="2025-06-28T00:16:49.823" v="1259" actId="20577"/>
          <ac:spMkLst>
            <pc:docMk/>
            <pc:sldMk cId="1625124294" sldId="260"/>
            <ac:spMk id="2" creationId="{0B08014F-0FFD-174B-D16F-11B42F948C3A}"/>
          </ac:spMkLst>
        </pc:spChg>
        <pc:spChg chg="mod">
          <ac:chgData name="Cervan Canton Alvaro W.MSCIDS_F24.2301" userId="09644743-1044-4338-95c6-f7c68461d1d3" providerId="ADAL" clId="{47809704-D555-43E9-8763-C18ABFFD866A}" dt="2025-06-28T00:13:48.521" v="1051" actId="27636"/>
          <ac:spMkLst>
            <pc:docMk/>
            <pc:sldMk cId="1625124294" sldId="260"/>
            <ac:spMk id="3" creationId="{FFFE5850-A05B-3B23-F736-BB3CE7697F40}"/>
          </ac:spMkLst>
        </pc:spChg>
        <pc:spChg chg="add mod">
          <ac:chgData name="Cervan Canton Alvaro W.MSCIDS_F24.2301" userId="09644743-1044-4338-95c6-f7c68461d1d3" providerId="ADAL" clId="{47809704-D555-43E9-8763-C18ABFFD866A}" dt="2025-06-28T00:17:39.580" v="1260" actId="403"/>
          <ac:spMkLst>
            <pc:docMk/>
            <pc:sldMk cId="1625124294" sldId="260"/>
            <ac:spMk id="4" creationId="{BD029C9D-BD38-07FC-9050-8BEFA4DC9291}"/>
          </ac:spMkLst>
        </pc:spChg>
      </pc:sldChg>
      <pc:sldChg chg="addSp delSp modSp new mod">
        <pc:chgData name="Cervan Canton Alvaro W.MSCIDS_F24.2301" userId="09644743-1044-4338-95c6-f7c68461d1d3" providerId="ADAL" clId="{47809704-D555-43E9-8763-C18ABFFD866A}" dt="2025-06-28T00:09:43.013" v="944" actId="20577"/>
        <pc:sldMkLst>
          <pc:docMk/>
          <pc:sldMk cId="1435071399" sldId="261"/>
        </pc:sldMkLst>
        <pc:spChg chg="mod">
          <ac:chgData name="Cervan Canton Alvaro W.MSCIDS_F24.2301" userId="09644743-1044-4338-95c6-f7c68461d1d3" providerId="ADAL" clId="{47809704-D555-43E9-8763-C18ABFFD866A}" dt="2025-06-28T00:01:04.132" v="563" actId="20577"/>
          <ac:spMkLst>
            <pc:docMk/>
            <pc:sldMk cId="1435071399" sldId="261"/>
            <ac:spMk id="2" creationId="{DB1BA345-6744-3FE7-3680-97566F1F098F}"/>
          </ac:spMkLst>
        </pc:spChg>
        <pc:spChg chg="add del mod">
          <ac:chgData name="Cervan Canton Alvaro W.MSCIDS_F24.2301" userId="09644743-1044-4338-95c6-f7c68461d1d3" providerId="ADAL" clId="{47809704-D555-43E9-8763-C18ABFFD866A}" dt="2025-06-28T00:09:43.013" v="944" actId="20577"/>
          <ac:spMkLst>
            <pc:docMk/>
            <pc:sldMk cId="1435071399" sldId="261"/>
            <ac:spMk id="3" creationId="{9F5F05AC-DA74-8CF0-9B54-052F1E831274}"/>
          </ac:spMkLst>
        </pc:spChg>
        <pc:spChg chg="add mod">
          <ac:chgData name="Cervan Canton Alvaro W.MSCIDS_F24.2301" userId="09644743-1044-4338-95c6-f7c68461d1d3" providerId="ADAL" clId="{47809704-D555-43E9-8763-C18ABFFD866A}" dt="2025-06-28T00:01:11.654" v="569"/>
          <ac:spMkLst>
            <pc:docMk/>
            <pc:sldMk cId="1435071399" sldId="261"/>
            <ac:spMk id="4" creationId="{6D3F985E-C954-2912-8A69-15E8309BFD72}"/>
          </ac:spMkLst>
        </pc:spChg>
        <pc:spChg chg="add del mod">
          <ac:chgData name="Cervan Canton Alvaro W.MSCIDS_F24.2301" userId="09644743-1044-4338-95c6-f7c68461d1d3" providerId="ADAL" clId="{47809704-D555-43E9-8763-C18ABFFD866A}" dt="2025-06-28T00:08:24.023" v="926" actId="478"/>
          <ac:spMkLst>
            <pc:docMk/>
            <pc:sldMk cId="1435071399" sldId="261"/>
            <ac:spMk id="5" creationId="{020517F5-A2FC-E2FD-F559-B52A0956D0B0}"/>
          </ac:spMkLst>
        </pc:spChg>
        <pc:spChg chg="add mod">
          <ac:chgData name="Cervan Canton Alvaro W.MSCIDS_F24.2301" userId="09644743-1044-4338-95c6-f7c68461d1d3" providerId="ADAL" clId="{47809704-D555-43E9-8763-C18ABFFD866A}" dt="2025-06-28T00:08:10.398" v="924"/>
          <ac:spMkLst>
            <pc:docMk/>
            <pc:sldMk cId="1435071399" sldId="261"/>
            <ac:spMk id="6" creationId="{DD5DA72E-A268-B99E-8040-C1BD30373C7C}"/>
          </ac:spMkLst>
        </pc:spChg>
        <pc:spChg chg="add del">
          <ac:chgData name="Cervan Canton Alvaro W.MSCIDS_F24.2301" userId="09644743-1044-4338-95c6-f7c68461d1d3" providerId="ADAL" clId="{47809704-D555-43E9-8763-C18ABFFD866A}" dt="2025-06-28T00:09:24.259" v="940" actId="478"/>
          <ac:spMkLst>
            <pc:docMk/>
            <pc:sldMk cId="1435071399" sldId="261"/>
            <ac:spMk id="7" creationId="{14E9E968-C6FB-0125-3009-A62324C1BF6A}"/>
          </ac:spMkLst>
        </pc:spChg>
      </pc:sldChg>
      <pc:sldChg chg="modSp new mod">
        <pc:chgData name="Cervan Canton Alvaro W.MSCIDS_F24.2301" userId="09644743-1044-4338-95c6-f7c68461d1d3" providerId="ADAL" clId="{47809704-D555-43E9-8763-C18ABFFD866A}" dt="2025-06-28T00:10:33.417" v="979" actId="20577"/>
        <pc:sldMkLst>
          <pc:docMk/>
          <pc:sldMk cId="3056003020" sldId="262"/>
        </pc:sldMkLst>
        <pc:spChg chg="mod">
          <ac:chgData name="Cervan Canton Alvaro W.MSCIDS_F24.2301" userId="09644743-1044-4338-95c6-f7c68461d1d3" providerId="ADAL" clId="{47809704-D555-43E9-8763-C18ABFFD866A}" dt="2025-06-28T00:10:33.417" v="979" actId="20577"/>
          <ac:spMkLst>
            <pc:docMk/>
            <pc:sldMk cId="3056003020" sldId="262"/>
            <ac:spMk id="2" creationId="{ABAA091E-A79B-A64F-5B66-50BDC9382FAC}"/>
          </ac:spMkLst>
        </pc:spChg>
      </pc:sldChg>
      <pc:sldChg chg="modSp add mod">
        <pc:chgData name="Cervan Canton Alvaro W.MSCIDS_F24.2301" userId="09644743-1044-4338-95c6-f7c68461d1d3" providerId="ADAL" clId="{47809704-D555-43E9-8763-C18ABFFD866A}" dt="2025-06-28T00:10:43.475" v="983" actId="20577"/>
        <pc:sldMkLst>
          <pc:docMk/>
          <pc:sldMk cId="384888380" sldId="263"/>
        </pc:sldMkLst>
        <pc:spChg chg="mod">
          <ac:chgData name="Cervan Canton Alvaro W.MSCIDS_F24.2301" userId="09644743-1044-4338-95c6-f7c68461d1d3" providerId="ADAL" clId="{47809704-D555-43E9-8763-C18ABFFD866A}" dt="2025-06-28T00:10:43.475" v="983" actId="20577"/>
          <ac:spMkLst>
            <pc:docMk/>
            <pc:sldMk cId="384888380" sldId="263"/>
            <ac:spMk id="2" creationId="{ABAA091E-A79B-A64F-5B66-50BDC9382FAC}"/>
          </ac:spMkLst>
        </pc:spChg>
      </pc:sldChg>
      <pc:sldChg chg="modSp add mod">
        <pc:chgData name="Cervan Canton Alvaro W.MSCIDS_F24.2301" userId="09644743-1044-4338-95c6-f7c68461d1d3" providerId="ADAL" clId="{47809704-D555-43E9-8763-C18ABFFD866A}" dt="2025-06-28T00:11:04.612" v="993" actId="20577"/>
        <pc:sldMkLst>
          <pc:docMk/>
          <pc:sldMk cId="2318978003" sldId="264"/>
        </pc:sldMkLst>
        <pc:spChg chg="mod">
          <ac:chgData name="Cervan Canton Alvaro W.MSCIDS_F24.2301" userId="09644743-1044-4338-95c6-f7c68461d1d3" providerId="ADAL" clId="{47809704-D555-43E9-8763-C18ABFFD866A}" dt="2025-06-28T00:11:04.612" v="993" actId="20577"/>
          <ac:spMkLst>
            <pc:docMk/>
            <pc:sldMk cId="2318978003" sldId="264"/>
            <ac:spMk id="2" creationId="{ABAA091E-A79B-A64F-5B66-50BDC9382FAC}"/>
          </ac:spMkLst>
        </pc:spChg>
      </pc:sldChg>
      <pc:sldChg chg="modSp add mod">
        <pc:chgData name="Cervan Canton Alvaro W.MSCIDS_F24.2301" userId="09644743-1044-4338-95c6-f7c68461d1d3" providerId="ADAL" clId="{47809704-D555-43E9-8763-C18ABFFD866A}" dt="2025-06-28T00:11:18.375" v="995"/>
        <pc:sldMkLst>
          <pc:docMk/>
          <pc:sldMk cId="1001368556" sldId="265"/>
        </pc:sldMkLst>
        <pc:spChg chg="mod">
          <ac:chgData name="Cervan Canton Alvaro W.MSCIDS_F24.2301" userId="09644743-1044-4338-95c6-f7c68461d1d3" providerId="ADAL" clId="{47809704-D555-43E9-8763-C18ABFFD866A}" dt="2025-06-28T00:11:18.375" v="995"/>
          <ac:spMkLst>
            <pc:docMk/>
            <pc:sldMk cId="1001368556" sldId="265"/>
            <ac:spMk id="2" creationId="{ABAA091E-A79B-A64F-5B66-50BDC9382FAC}"/>
          </ac:spMkLst>
        </pc:spChg>
      </pc:sldChg>
      <pc:sldChg chg="modSp add mod">
        <pc:chgData name="Cervan Canton Alvaro W.MSCIDS_F24.2301" userId="09644743-1044-4338-95c6-f7c68461d1d3" providerId="ADAL" clId="{47809704-D555-43E9-8763-C18ABFFD866A}" dt="2025-06-28T00:11:49.216" v="999"/>
        <pc:sldMkLst>
          <pc:docMk/>
          <pc:sldMk cId="631473613" sldId="266"/>
        </pc:sldMkLst>
        <pc:spChg chg="mod">
          <ac:chgData name="Cervan Canton Alvaro W.MSCIDS_F24.2301" userId="09644743-1044-4338-95c6-f7c68461d1d3" providerId="ADAL" clId="{47809704-D555-43E9-8763-C18ABFFD866A}" dt="2025-06-28T00:11:49.216" v="999"/>
          <ac:spMkLst>
            <pc:docMk/>
            <pc:sldMk cId="631473613" sldId="266"/>
            <ac:spMk id="2" creationId="{ABAA091E-A79B-A64F-5B66-50BDC9382FAC}"/>
          </ac:spMkLst>
        </pc:spChg>
      </pc:sldChg>
      <pc:sldChg chg="modSp add mod">
        <pc:chgData name="Cervan Canton Alvaro W.MSCIDS_F24.2301" userId="09644743-1044-4338-95c6-f7c68461d1d3" providerId="ADAL" clId="{47809704-D555-43E9-8763-C18ABFFD866A}" dt="2025-06-28T00:11:57.157" v="1001"/>
        <pc:sldMkLst>
          <pc:docMk/>
          <pc:sldMk cId="984394870" sldId="267"/>
        </pc:sldMkLst>
        <pc:spChg chg="mod">
          <ac:chgData name="Cervan Canton Alvaro W.MSCIDS_F24.2301" userId="09644743-1044-4338-95c6-f7c68461d1d3" providerId="ADAL" clId="{47809704-D555-43E9-8763-C18ABFFD866A}" dt="2025-06-28T00:11:57.157" v="1001"/>
          <ac:spMkLst>
            <pc:docMk/>
            <pc:sldMk cId="984394870" sldId="267"/>
            <ac:spMk id="2" creationId="{ABAA091E-A79B-A64F-5B66-50BDC9382FAC}"/>
          </ac:spMkLst>
        </pc:spChg>
      </pc:sldChg>
      <pc:sldChg chg="modSp new mod">
        <pc:chgData name="Cervan Canton Alvaro W.MSCIDS_F24.2301" userId="09644743-1044-4338-95c6-f7c68461d1d3" providerId="ADAL" clId="{47809704-D555-43E9-8763-C18ABFFD866A}" dt="2025-06-28T00:12:41.479" v="1029" actId="20577"/>
        <pc:sldMkLst>
          <pc:docMk/>
          <pc:sldMk cId="2522694870" sldId="268"/>
        </pc:sldMkLst>
        <pc:spChg chg="mod">
          <ac:chgData name="Cervan Canton Alvaro W.MSCIDS_F24.2301" userId="09644743-1044-4338-95c6-f7c68461d1d3" providerId="ADAL" clId="{47809704-D555-43E9-8763-C18ABFFD866A}" dt="2025-06-28T00:12:41.479" v="1029" actId="20577"/>
          <ac:spMkLst>
            <pc:docMk/>
            <pc:sldMk cId="2522694870" sldId="268"/>
            <ac:spMk id="2" creationId="{FF365628-049E-9992-49EF-EEE27A6201B2}"/>
          </ac:spMkLst>
        </pc:spChg>
      </pc:sldChg>
      <pc:sldChg chg="modSp add mod">
        <pc:chgData name="Cervan Canton Alvaro W.MSCIDS_F24.2301" userId="09644743-1044-4338-95c6-f7c68461d1d3" providerId="ADAL" clId="{47809704-D555-43E9-8763-C18ABFFD866A}" dt="2025-06-28T00:12:52.548" v="1045" actId="20577"/>
        <pc:sldMkLst>
          <pc:docMk/>
          <pc:sldMk cId="253357861" sldId="269"/>
        </pc:sldMkLst>
        <pc:spChg chg="mod">
          <ac:chgData name="Cervan Canton Alvaro W.MSCIDS_F24.2301" userId="09644743-1044-4338-95c6-f7c68461d1d3" providerId="ADAL" clId="{47809704-D555-43E9-8763-C18ABFFD866A}" dt="2025-06-28T00:12:52.548" v="1045" actId="20577"/>
          <ac:spMkLst>
            <pc:docMk/>
            <pc:sldMk cId="253357861" sldId="269"/>
            <ac:spMk id="2" creationId="{FF365628-049E-9992-49EF-EEE27A6201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2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9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6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0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21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0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03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76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116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486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9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vishesh1412/celebrity-face-image-dataset/data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1BA7680-B1FB-4B6B-2155-45DD5D6C4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robot with human face">
            <a:extLst>
              <a:ext uri="{FF2B5EF4-FFF2-40B4-BE49-F238E27FC236}">
                <a16:creationId xmlns:a16="http://schemas.microsoft.com/office/drawing/2014/main" id="{18BEAACE-C5F7-CA14-A624-4E0ADC6CB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332383"/>
            <a:ext cx="12192000" cy="452561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F84BDC-B424-DC49-CB16-C4675039F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5331" y="4092167"/>
            <a:ext cx="7985340" cy="2313023"/>
          </a:xfrm>
          <a:noFill/>
          <a:effectLst>
            <a:softEdge rad="1079500"/>
          </a:effectLst>
        </p:spPr>
        <p:txBody>
          <a:bodyPr>
            <a:normAutofit fontScale="90000"/>
          </a:bodyPr>
          <a:lstStyle/>
          <a:p>
            <a:pPr lvl="0" algn="l">
              <a:lnSpc>
                <a:spcPct val="120000"/>
              </a:lnSpc>
              <a:spcBef>
                <a:spcPts val="1000"/>
              </a:spcBef>
            </a:pPr>
            <a:r>
              <a:rPr lang="es-ES" sz="5100" dirty="0" err="1"/>
              <a:t>Face</a:t>
            </a:r>
            <a:r>
              <a:rPr lang="es-ES" sz="5100" dirty="0"/>
              <a:t> </a:t>
            </a:r>
            <a:r>
              <a:rPr lang="es-ES" sz="5100" dirty="0" err="1"/>
              <a:t>Reconition</a:t>
            </a:r>
            <a:r>
              <a:rPr lang="es-ES" sz="5100" dirty="0"/>
              <a:t> </a:t>
            </a:r>
            <a:r>
              <a:rPr lang="es-ES" sz="5100" dirty="0" err="1"/>
              <a:t>for</a:t>
            </a:r>
            <a:br>
              <a:rPr lang="es-ES" sz="5100" dirty="0"/>
            </a:br>
            <a:r>
              <a:rPr lang="es-ES" sz="5100" dirty="0" err="1"/>
              <a:t>Limited</a:t>
            </a:r>
            <a:r>
              <a:rPr lang="es-ES" sz="5100" dirty="0"/>
              <a:t> </a:t>
            </a:r>
            <a:r>
              <a:rPr lang="es-ES" sz="5100" dirty="0" err="1"/>
              <a:t>Resources</a:t>
            </a:r>
            <a:r>
              <a:rPr lang="es-ES" sz="5100" dirty="0"/>
              <a:t> </a:t>
            </a:r>
            <a:r>
              <a:rPr lang="es-ES" sz="5100" dirty="0" err="1"/>
              <a:t>Devices</a:t>
            </a:r>
            <a:br>
              <a:rPr lang="es-ES" sz="5100" dirty="0"/>
            </a:br>
            <a:r>
              <a:rPr lang="es-ES" sz="1900" b="0" dirty="0">
                <a:ea typeface="+mn-ea"/>
                <a:cs typeface="+mn-cs"/>
              </a:rPr>
              <a:t>Computer </a:t>
            </a:r>
            <a:r>
              <a:rPr lang="es-ES" sz="1900" b="0" dirty="0" err="1">
                <a:ea typeface="+mn-ea"/>
                <a:cs typeface="+mn-cs"/>
              </a:rPr>
              <a:t>Vision</a:t>
            </a:r>
            <a:br>
              <a:rPr lang="es-ES" sz="1900" b="0" dirty="0">
                <a:ea typeface="+mn-ea"/>
                <a:cs typeface="+mn-cs"/>
              </a:rPr>
            </a:br>
            <a:r>
              <a:rPr lang="es-ES" sz="1400" b="0" dirty="0">
                <a:ea typeface="+mn-ea"/>
                <a:cs typeface="+mn-cs"/>
              </a:rPr>
              <a:t>By Alvaro Cervan Canton, </a:t>
            </a:r>
            <a:r>
              <a:rPr lang="en-US" sz="1400" b="0" dirty="0">
                <a:ea typeface="+mn-ea"/>
                <a:cs typeface="+mn-cs"/>
              </a:rPr>
              <a:t>Lucerne University of Applied Sciences and Arts, </a:t>
            </a:r>
            <a:r>
              <a:rPr lang="es-ES" sz="1400" b="0" dirty="0">
                <a:ea typeface="+mn-ea"/>
                <a:cs typeface="+mn-cs"/>
              </a:rPr>
              <a:t>2025</a:t>
            </a:r>
            <a:endParaRPr lang="es-ES" sz="5100" dirty="0"/>
          </a:p>
        </p:txBody>
      </p:sp>
    </p:spTree>
    <p:extLst>
      <p:ext uri="{BB962C8B-B14F-4D97-AF65-F5344CB8AC3E}">
        <p14:creationId xmlns:p14="http://schemas.microsoft.com/office/powerpoint/2010/main" val="4161796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E7A67-AA92-AD27-AE4C-0C879C43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Overview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857DB-92AA-BA18-8537-877C3B15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endParaRPr lang="es-ES" dirty="0"/>
          </a:p>
          <a:p>
            <a:r>
              <a:rPr lang="es-ES" dirty="0" err="1"/>
              <a:t>Objective</a:t>
            </a:r>
            <a:r>
              <a:rPr lang="es-ES" dirty="0"/>
              <a:t> &amp; </a:t>
            </a:r>
            <a:r>
              <a:rPr lang="es-ES" dirty="0" err="1"/>
              <a:t>Motivation</a:t>
            </a:r>
            <a:endParaRPr lang="es-ES" dirty="0"/>
          </a:p>
          <a:p>
            <a:r>
              <a:rPr lang="es-ES" dirty="0"/>
              <a:t>Data &amp; </a:t>
            </a:r>
            <a:r>
              <a:rPr lang="es-ES" dirty="0" err="1"/>
              <a:t>Preprocessing</a:t>
            </a:r>
            <a:endParaRPr lang="es-ES" dirty="0"/>
          </a:p>
          <a:p>
            <a:pPr lvl="1"/>
            <a:r>
              <a:rPr lang="es-ES" dirty="0"/>
              <a:t>The </a:t>
            </a:r>
            <a:r>
              <a:rPr lang="es-ES" dirty="0" err="1"/>
              <a:t>Dataset</a:t>
            </a:r>
            <a:endParaRPr lang="es-ES" dirty="0"/>
          </a:p>
          <a:p>
            <a:r>
              <a:rPr lang="es-ES" dirty="0" err="1"/>
              <a:t>Methodologies</a:t>
            </a:r>
            <a:r>
              <a:rPr lang="es-ES" dirty="0"/>
              <a:t> &amp; </a:t>
            </a:r>
            <a:r>
              <a:rPr lang="es-ES" dirty="0" err="1"/>
              <a:t>Models</a:t>
            </a:r>
            <a:endParaRPr lang="es-ES" dirty="0"/>
          </a:p>
          <a:p>
            <a:pPr lvl="1"/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Evaluated</a:t>
            </a:r>
            <a:r>
              <a:rPr lang="es-ES" dirty="0"/>
              <a:t>: An </a:t>
            </a:r>
            <a:r>
              <a:rPr lang="es-ES" dirty="0" err="1"/>
              <a:t>Overview</a:t>
            </a:r>
            <a:endParaRPr lang="es-ES" dirty="0"/>
          </a:p>
          <a:p>
            <a:pPr lvl="1"/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: PCA &amp; LBP</a:t>
            </a:r>
          </a:p>
          <a:p>
            <a:pPr lvl="1"/>
            <a:r>
              <a:rPr lang="es-ES" dirty="0"/>
              <a:t>Transfer Learning: VGG16 &amp; MobileNetV2</a:t>
            </a:r>
          </a:p>
          <a:p>
            <a:pPr lvl="1"/>
            <a:r>
              <a:rPr lang="es-ES" dirty="0" err="1"/>
              <a:t>Embedding-Based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FaceNet</a:t>
            </a:r>
            <a:r>
              <a:rPr lang="es-ES" dirty="0"/>
              <a:t> &amp; </a:t>
            </a:r>
            <a:r>
              <a:rPr lang="es-ES" dirty="0" err="1"/>
              <a:t>ArcFace</a:t>
            </a:r>
            <a:endParaRPr lang="es-ES" dirty="0"/>
          </a:p>
          <a:p>
            <a:r>
              <a:rPr lang="es-ES" dirty="0"/>
              <a:t>Performance </a:t>
            </a:r>
            <a:r>
              <a:rPr lang="es-ES" dirty="0" err="1"/>
              <a:t>Comparison</a:t>
            </a:r>
            <a:endParaRPr lang="es-ES" dirty="0"/>
          </a:p>
          <a:p>
            <a:r>
              <a:rPr lang="en-US" dirty="0"/>
              <a:t>The Impact of Data Augmentation</a:t>
            </a:r>
          </a:p>
          <a:p>
            <a:r>
              <a:rPr lang="es-ES" dirty="0" err="1"/>
              <a:t>Challenges</a:t>
            </a:r>
            <a:r>
              <a:rPr lang="es-ES" dirty="0"/>
              <a:t> &amp; </a:t>
            </a:r>
            <a:r>
              <a:rPr lang="es-ES" dirty="0" err="1"/>
              <a:t>Learnings</a:t>
            </a:r>
            <a:endParaRPr lang="es-ES" dirty="0"/>
          </a:p>
          <a:p>
            <a:r>
              <a:rPr lang="es-ES" dirty="0" err="1"/>
              <a:t>Conclusion</a:t>
            </a:r>
            <a:r>
              <a:rPr lang="es-ES" dirty="0"/>
              <a:t> &amp;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Takeaways</a:t>
            </a:r>
            <a:r>
              <a:rPr lang="es-ES" dirty="0"/>
              <a:t> </a:t>
            </a:r>
          </a:p>
          <a:p>
            <a:r>
              <a:rPr lang="es-ES" dirty="0"/>
              <a:t>Future Work </a:t>
            </a:r>
            <a:r>
              <a:rPr lang="es-ES"/>
              <a:t>/ Q</a:t>
            </a:r>
            <a:r>
              <a:rPr lang="es-ES" dirty="0"/>
              <a:t>&amp;A / </a:t>
            </a:r>
            <a:r>
              <a:rPr lang="es-ES" dirty="0" err="1"/>
              <a:t>Thank</a:t>
            </a:r>
            <a:r>
              <a:rPr lang="es-ES" dirty="0"/>
              <a:t> You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94510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C29F1-C255-9350-4B4B-4E3B2FD0F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r>
              <a:rPr lang="es-E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E353E-726F-2B63-E6D9-F0A5CADFF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Fundamental task in computer vision with diverse applications (device unlock, surveillance, access control, social media tagging).</a:t>
            </a:r>
          </a:p>
          <a:p>
            <a:r>
              <a:rPr lang="en-US" dirty="0"/>
              <a:t>This project focuses on the face detection and comparison between images for security and log-in functions.</a:t>
            </a:r>
          </a:p>
          <a:p>
            <a:r>
              <a:rPr lang="en-US" dirty="0"/>
              <a:t>Deep learning, especially CNNs, has boosted face recognition accuracy by learning robust facial features. These models outperform older methods, even under poor lighting or angle variations.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72454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2A6A-7218-6D05-9E39-DAF42C2CB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Project </a:t>
            </a:r>
            <a:r>
              <a:rPr lang="es-ES" dirty="0" err="1"/>
              <a:t>Objective</a:t>
            </a:r>
            <a:r>
              <a:rPr lang="es-ES" dirty="0"/>
              <a:t> and </a:t>
            </a:r>
            <a:r>
              <a:rPr lang="es-ES" dirty="0" err="1"/>
              <a:t>Motivation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D9094-2680-17EB-C71A-AC4ABAEC2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Objective:</a:t>
            </a:r>
            <a:r>
              <a:rPr lang="en-US" dirty="0"/>
              <a:t> To evaluate and compare various deep learning models for face classification.</a:t>
            </a:r>
            <a:endParaRPr lang="es-ES" dirty="0"/>
          </a:p>
          <a:p>
            <a:r>
              <a:rPr lang="en-US" b="1" dirty="0"/>
              <a:t>Dataset:</a:t>
            </a:r>
            <a:r>
              <a:rPr lang="en-US" dirty="0"/>
              <a:t> Curated dataset of 18 celebrities, about 100 images each.</a:t>
            </a:r>
          </a:p>
          <a:p>
            <a:r>
              <a:rPr lang="en-US" b="1" dirty="0"/>
              <a:t>Goals:</a:t>
            </a:r>
            <a:r>
              <a:rPr lang="en-US" dirty="0"/>
              <a:t> Understand performance, analyze generalization/overfitting, develop a reproducible evaluation framework.</a:t>
            </a:r>
          </a:p>
          <a:p>
            <a:r>
              <a:rPr lang="en-US" b="1" dirty="0"/>
              <a:t>Why it Matters:</a:t>
            </a:r>
            <a:r>
              <a:rPr lang="en-US" dirty="0"/>
              <a:t> Insights into transfer learning for smaller datasets, foundational work for resource-constrained deployments.</a:t>
            </a:r>
          </a:p>
          <a:p>
            <a:r>
              <a:rPr lang="en-US" b="1" dirty="0"/>
              <a:t>Question:</a:t>
            </a:r>
            <a:r>
              <a:rPr lang="en-US" dirty="0"/>
              <a:t> What are the options for less powerful devices like smartphones or laptops to use non-proprietary models and implementations.</a:t>
            </a:r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1119096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8014F-0FFD-174B-D16F-11B42F94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The </a:t>
            </a:r>
            <a:r>
              <a:rPr lang="es-ES" dirty="0" err="1"/>
              <a:t>Datasets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E5850-A05B-3B23-F736-BB3CE7697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399254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sz="2400" b="1" dirty="0"/>
              <a:t>Original </a:t>
            </a:r>
            <a:r>
              <a:rPr lang="es-ES" sz="2400" b="1" dirty="0" err="1"/>
              <a:t>Dataset</a:t>
            </a:r>
            <a:endParaRPr lang="es-ES" sz="2400" b="1" dirty="0"/>
          </a:p>
          <a:p>
            <a:r>
              <a:rPr lang="es-ES" dirty="0"/>
              <a:t>The </a:t>
            </a:r>
            <a:r>
              <a:rPr lang="es-ES" dirty="0" err="1"/>
              <a:t>dataset</a:t>
            </a:r>
            <a:r>
              <a:rPr lang="es-ES" dirty="0"/>
              <a:t> </a:t>
            </a:r>
            <a:r>
              <a:rPr lang="es-ES" dirty="0" err="1"/>
              <a:t>contains</a:t>
            </a:r>
            <a:r>
              <a:rPr lang="es-ES" dirty="0"/>
              <a:t> 17 </a:t>
            </a:r>
            <a:r>
              <a:rPr lang="es-ES" dirty="0" err="1"/>
              <a:t>celebrities</a:t>
            </a:r>
            <a:r>
              <a:rPr lang="es-ES" dirty="0"/>
              <a:t> (100 </a:t>
            </a:r>
            <a:r>
              <a:rPr lang="es-ES" dirty="0" err="1"/>
              <a:t>images</a:t>
            </a:r>
            <a:r>
              <a:rPr lang="es-ES" dirty="0"/>
              <a:t> each)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>
                <a:hlinkClick r:id="rId2"/>
              </a:rPr>
              <a:t>kaggle</a:t>
            </a:r>
            <a:r>
              <a:rPr lang="es-ES" dirty="0"/>
              <a:t> + the </a:t>
            </a:r>
            <a:r>
              <a:rPr lang="es-ES" dirty="0" err="1"/>
              <a:t>student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a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scan</a:t>
            </a:r>
            <a:r>
              <a:rPr lang="es-ES" dirty="0"/>
              <a:t> video (300 </a:t>
            </a:r>
            <a:r>
              <a:rPr lang="es-ES" dirty="0" err="1"/>
              <a:t>images</a:t>
            </a:r>
            <a:r>
              <a:rPr lang="es-ES" dirty="0"/>
              <a:t>), </a:t>
            </a:r>
            <a:r>
              <a:rPr lang="es-ES" dirty="0" err="1"/>
              <a:t>totalling</a:t>
            </a:r>
            <a:r>
              <a:rPr lang="es-ES" dirty="0"/>
              <a:t> </a:t>
            </a:r>
            <a:r>
              <a:rPr lang="es-ES" dirty="0" err="1"/>
              <a:t>around</a:t>
            </a:r>
            <a:r>
              <a:rPr lang="es-ES" dirty="0"/>
              <a:t> 2000 </a:t>
            </a:r>
            <a:r>
              <a:rPr lang="es-ES" dirty="0" err="1"/>
              <a:t>images</a:t>
            </a:r>
            <a:r>
              <a:rPr lang="es-ES" dirty="0"/>
              <a:t>.</a:t>
            </a:r>
          </a:p>
          <a:p>
            <a:r>
              <a:rPr lang="es-ES" dirty="0" err="1"/>
              <a:t>All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were </a:t>
            </a:r>
            <a:r>
              <a:rPr lang="es-ES" dirty="0" err="1"/>
              <a:t>pre-processed</a:t>
            </a:r>
            <a:r>
              <a:rPr lang="es-ES" dirty="0"/>
              <a:t> by using MTCNN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detection</a:t>
            </a:r>
            <a:r>
              <a:rPr lang="es-ES" dirty="0"/>
              <a:t>, </a:t>
            </a:r>
            <a:r>
              <a:rPr lang="es-ES" dirty="0" err="1"/>
              <a:t>resizing</a:t>
            </a:r>
            <a:r>
              <a:rPr lang="es-ES" dirty="0"/>
              <a:t> and </a:t>
            </a:r>
            <a:r>
              <a:rPr lang="es-ES" dirty="0" err="1"/>
              <a:t>cropping</a:t>
            </a:r>
            <a:r>
              <a:rPr lang="es-ES" dirty="0"/>
              <a:t> (128x128) and </a:t>
            </a:r>
            <a:r>
              <a:rPr lang="es-ES" dirty="0" err="1"/>
              <a:t>normalization</a:t>
            </a:r>
            <a:r>
              <a:rPr lang="es-ES" dirty="0"/>
              <a:t>.</a:t>
            </a:r>
          </a:p>
          <a:p>
            <a:pPr marL="0" indent="0">
              <a:buNone/>
            </a:pPr>
            <a:r>
              <a:rPr lang="es-ES" sz="2400" b="1" dirty="0" err="1"/>
              <a:t>Augmentation</a:t>
            </a:r>
            <a:endParaRPr lang="es-ES" sz="2000" b="1" dirty="0"/>
          </a:p>
          <a:p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augmented</a:t>
            </a:r>
            <a:r>
              <a:rPr lang="es-ES" dirty="0"/>
              <a:t> in 3 different </a:t>
            </a:r>
            <a:r>
              <a:rPr lang="es-ES" dirty="0" err="1"/>
              <a:t>ways</a:t>
            </a:r>
            <a:r>
              <a:rPr lang="es-ES" dirty="0"/>
              <a:t>: Horizontal </a:t>
            </a:r>
            <a:r>
              <a:rPr lang="es-ES" dirty="0" err="1"/>
              <a:t>flip</a:t>
            </a:r>
            <a:r>
              <a:rPr lang="es-ES" dirty="0"/>
              <a:t>, </a:t>
            </a:r>
            <a:r>
              <a:rPr lang="es-ES" dirty="0" err="1"/>
              <a:t>slight</a:t>
            </a:r>
            <a:r>
              <a:rPr lang="es-ES" dirty="0"/>
              <a:t> </a:t>
            </a:r>
            <a:r>
              <a:rPr lang="es-ES" dirty="0" err="1"/>
              <a:t>rotation</a:t>
            </a:r>
            <a:r>
              <a:rPr lang="es-ES" dirty="0"/>
              <a:t> and color </a:t>
            </a:r>
            <a:r>
              <a:rPr lang="es-ES" dirty="0" err="1"/>
              <a:t>jitter</a:t>
            </a:r>
            <a:endParaRPr lang="es-ES" dirty="0"/>
          </a:p>
          <a:p>
            <a:r>
              <a:rPr lang="es-ES" sz="2000" dirty="0"/>
              <a:t>This </a:t>
            </a:r>
            <a:r>
              <a:rPr lang="es-ES" sz="2000" dirty="0" err="1"/>
              <a:t>created</a:t>
            </a:r>
            <a:r>
              <a:rPr lang="es-ES" sz="2000" dirty="0"/>
              <a:t> </a:t>
            </a:r>
            <a:r>
              <a:rPr lang="es-ES" sz="2000" dirty="0" err="1"/>
              <a:t>for</a:t>
            </a:r>
            <a:r>
              <a:rPr lang="es-ES" sz="2000" dirty="0"/>
              <a:t> each original </a:t>
            </a:r>
            <a:r>
              <a:rPr lang="es-ES" sz="2000" dirty="0" err="1"/>
              <a:t>images</a:t>
            </a:r>
            <a:r>
              <a:rPr lang="es-ES" sz="2000" dirty="0"/>
              <a:t>, 3 extra </a:t>
            </a:r>
            <a:r>
              <a:rPr lang="es-ES" sz="2000" dirty="0" err="1"/>
              <a:t>augmented</a:t>
            </a:r>
            <a:r>
              <a:rPr lang="es-ES" sz="2000" dirty="0"/>
              <a:t>, </a:t>
            </a:r>
            <a:r>
              <a:rPr lang="es-ES" sz="2000" dirty="0" err="1"/>
              <a:t>totalling</a:t>
            </a:r>
            <a:r>
              <a:rPr lang="es-ES" sz="2000" dirty="0"/>
              <a:t> 2000 x 4 = 8000 </a:t>
            </a:r>
            <a:r>
              <a:rPr lang="es-ES" sz="2000" dirty="0" err="1"/>
              <a:t>images</a:t>
            </a:r>
            <a:endParaRPr lang="es-ES" sz="2000" dirty="0"/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029C9D-BD38-07FC-9050-8BEFA4DC9291}"/>
              </a:ext>
            </a:extLst>
          </p:cNvPr>
          <p:cNvSpPr/>
          <p:nvPr/>
        </p:nvSpPr>
        <p:spPr>
          <a:xfrm>
            <a:off x="612648" y="5721927"/>
            <a:ext cx="10653578" cy="955964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To </a:t>
            </a:r>
            <a:r>
              <a:rPr lang="es-ES" dirty="0" err="1">
                <a:solidFill>
                  <a:schemeClr val="tx1"/>
                </a:solidFill>
              </a:rPr>
              <a:t>avoid</a:t>
            </a:r>
            <a:r>
              <a:rPr lang="es-ES" dirty="0">
                <a:solidFill>
                  <a:schemeClr val="tx1"/>
                </a:solidFill>
              </a:rPr>
              <a:t> a </a:t>
            </a:r>
            <a:r>
              <a:rPr lang="es-ES" dirty="0" err="1">
                <a:solidFill>
                  <a:schemeClr val="tx1"/>
                </a:solidFill>
              </a:rPr>
              <a:t>previous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b="1" dirty="0">
                <a:solidFill>
                  <a:schemeClr val="tx1"/>
                </a:solidFill>
              </a:rPr>
              <a:t>data </a:t>
            </a:r>
            <a:r>
              <a:rPr lang="es-ES" b="1" dirty="0" err="1">
                <a:solidFill>
                  <a:schemeClr val="tx1"/>
                </a:solidFill>
              </a:rPr>
              <a:t>leakage</a:t>
            </a:r>
            <a:r>
              <a:rPr lang="es-ES" dirty="0">
                <a:solidFill>
                  <a:schemeClr val="tx1"/>
                </a:solidFill>
              </a:rPr>
              <a:t>, the Split is done 70% - 15% - 15% in a non-</a:t>
            </a:r>
            <a:r>
              <a:rPr lang="es-ES" dirty="0" err="1">
                <a:solidFill>
                  <a:schemeClr val="tx1"/>
                </a:solidFill>
              </a:rPr>
              <a:t>random</a:t>
            </a:r>
            <a:r>
              <a:rPr lang="es-ES" dirty="0">
                <a:solidFill>
                  <a:schemeClr val="tx1"/>
                </a:solidFill>
              </a:rPr>
              <a:t> way, </a:t>
            </a:r>
            <a:r>
              <a:rPr lang="es-ES" dirty="0" err="1">
                <a:solidFill>
                  <a:schemeClr val="tx1"/>
                </a:solidFill>
              </a:rPr>
              <a:t>making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deterministic</a:t>
            </a:r>
            <a:r>
              <a:rPr lang="es-ES" dirty="0">
                <a:solidFill>
                  <a:schemeClr val="tx1"/>
                </a:solidFill>
              </a:rPr>
              <a:t> and </a:t>
            </a:r>
            <a:r>
              <a:rPr lang="es-ES" dirty="0" err="1">
                <a:solidFill>
                  <a:schemeClr val="tx1"/>
                </a:solidFill>
              </a:rPr>
              <a:t>checking</a:t>
            </a:r>
            <a:r>
              <a:rPr lang="es-ES" dirty="0">
                <a:solidFill>
                  <a:schemeClr val="tx1"/>
                </a:solidFill>
              </a:rPr>
              <a:t> that </a:t>
            </a:r>
            <a:r>
              <a:rPr lang="es-ES" dirty="0" err="1">
                <a:solidFill>
                  <a:schemeClr val="tx1"/>
                </a:solidFill>
              </a:rPr>
              <a:t>all</a:t>
            </a:r>
            <a:r>
              <a:rPr lang="es-ES" dirty="0">
                <a:solidFill>
                  <a:schemeClr val="tx1"/>
                </a:solidFill>
              </a:rPr>
              <a:t> 4 </a:t>
            </a:r>
            <a:r>
              <a:rPr lang="es-ES" dirty="0" err="1">
                <a:solidFill>
                  <a:schemeClr val="tx1"/>
                </a:solidFill>
              </a:rPr>
              <a:t>images</a:t>
            </a:r>
            <a:r>
              <a:rPr lang="es-ES" dirty="0">
                <a:solidFill>
                  <a:schemeClr val="tx1"/>
                </a:solidFill>
              </a:rPr>
              <a:t> (original + 3 </a:t>
            </a:r>
            <a:r>
              <a:rPr lang="es-ES" dirty="0" err="1">
                <a:solidFill>
                  <a:schemeClr val="tx1"/>
                </a:solidFill>
              </a:rPr>
              <a:t>augmented</a:t>
            </a:r>
            <a:r>
              <a:rPr lang="es-ES" dirty="0">
                <a:solidFill>
                  <a:schemeClr val="tx1"/>
                </a:solidFill>
              </a:rPr>
              <a:t>) were in a single Split.</a:t>
            </a:r>
          </a:p>
        </p:txBody>
      </p:sp>
    </p:spTree>
    <p:extLst>
      <p:ext uri="{BB962C8B-B14F-4D97-AF65-F5344CB8AC3E}">
        <p14:creationId xmlns:p14="http://schemas.microsoft.com/office/powerpoint/2010/main" val="1625124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BA345-6744-3FE7-3680-97566F1F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F05AC-DA74-8CF0-9B54-052F1E831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Classical Approaches: PCA, LBP </a:t>
            </a:r>
          </a:p>
          <a:p>
            <a:r>
              <a:rPr lang="en-US" dirty="0"/>
              <a:t>Transfer Learning (CNN Baselines): VGG16 (fine-tuned), MobileNetV2</a:t>
            </a:r>
          </a:p>
          <a:p>
            <a:r>
              <a:rPr lang="en-US" dirty="0"/>
              <a:t>Embedding-Based (State-of-the-Art): </a:t>
            </a:r>
            <a:r>
              <a:rPr lang="en-US" dirty="0" err="1"/>
              <a:t>FaceNet</a:t>
            </a:r>
            <a:r>
              <a:rPr lang="en-US" dirty="0"/>
              <a:t>, </a:t>
            </a:r>
            <a:r>
              <a:rPr lang="en-US" dirty="0" err="1"/>
              <a:t>ArcFace</a:t>
            </a:r>
            <a:r>
              <a:rPr lang="en-US" dirty="0"/>
              <a:t> (with KNN classifier)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35071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 - PCA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56003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 - LBP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888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Transfer Learning – VGG16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8978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Transfer Learning – MobileNetV2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1368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Embedding-Based</a:t>
            </a:r>
            <a:r>
              <a:rPr lang="es-ES" dirty="0"/>
              <a:t> – </a:t>
            </a:r>
            <a:r>
              <a:rPr lang="es-ES" dirty="0" err="1"/>
              <a:t>FaceNet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1473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Embedding-Based</a:t>
            </a:r>
            <a:r>
              <a:rPr lang="es-ES" dirty="0"/>
              <a:t> – </a:t>
            </a:r>
            <a:r>
              <a:rPr lang="es-ES" dirty="0" err="1"/>
              <a:t>ArcFace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4394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5628-049E-9992-49EF-EEE27A62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- </a:t>
            </a:r>
            <a:r>
              <a:rPr lang="es-ES" dirty="0" err="1"/>
              <a:t>Classification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18192-0545-B17B-4EA3-4AD08303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2694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5628-049E-9992-49EF-EEE27A62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– </a:t>
            </a:r>
            <a:r>
              <a:rPr lang="es-ES" dirty="0" err="1"/>
              <a:t>Validation</a:t>
            </a:r>
            <a:r>
              <a:rPr lang="es-ES" dirty="0"/>
              <a:t> 1:1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18192-0545-B17B-4EA3-4AD08303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3357861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450</Words>
  <Application>Microsoft Office PowerPoint</Application>
  <PresentationFormat>Widescreen</PresentationFormat>
  <Paragraphs>46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Neue Haas Grotesk Text Pro</vt:lpstr>
      <vt:lpstr>VanillaVTI</vt:lpstr>
      <vt:lpstr>Face Reconition for Limited Resources Devices Computer Vision By Alvaro Cervan Canton, Lucerne University of Applied Sciences and Arts, 2025</vt:lpstr>
      <vt:lpstr>Overview</vt:lpstr>
      <vt:lpstr>What is Face Recognition?</vt:lpstr>
      <vt:lpstr>Project Objective and Motivation</vt:lpstr>
      <vt:lpstr>The Datasets</vt:lpstr>
      <vt:lpstr>Models</vt:lpstr>
      <vt:lpstr>Models: Classical Approaches - PCA</vt:lpstr>
      <vt:lpstr>Models: Classical Approaches - LBP</vt:lpstr>
      <vt:lpstr>Models: Transfer Learning – VGG16</vt:lpstr>
      <vt:lpstr>Models: Transfer Learning – MobileNetV2</vt:lpstr>
      <vt:lpstr>Models: Embedding-Based – FaceNet</vt:lpstr>
      <vt:lpstr>Models: Embedding-Based – ArcFace</vt:lpstr>
      <vt:lpstr>Evaluation - Classification</vt:lpstr>
      <vt:lpstr>Evaluation – Validation 1:1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Cervan Canton Alvaro W.MSCIDS_F24.2301</dc:creator>
  <cp:lastModifiedBy>Cervan Canton Alvaro W.MSCIDS_F24.2301</cp:lastModifiedBy>
  <cp:revision>1</cp:revision>
  <dcterms:created xsi:type="dcterms:W3CDTF">2025-06-24T16:13:53Z</dcterms:created>
  <dcterms:modified xsi:type="dcterms:W3CDTF">2025-06-28T00:17:40Z</dcterms:modified>
</cp:coreProperties>
</file>